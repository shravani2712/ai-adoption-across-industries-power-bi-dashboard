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9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p:cNvSpPr>
            <a:spLocks noGrp="1"/>
          </p:cNvSpPr>
          <p:nvPr/>
        </p:nvSpPr>
        <p:spPr>
          <a:xfrm>
            <a:off x="594127" y="3739889"/>
            <a:ext cx="4166512" cy="250676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SHRAVANI SACHIN DHURI</a:t>
            </a:r>
          </a:p>
          <a:p>
            <a:pPr algn="l">
              <a:spcAft>
                <a:spcPts val="600"/>
              </a:spcAft>
            </a:pPr>
            <a:r>
              <a:rPr lang="en-US" sz="1600" b="1" cap="all" dirty="0"/>
              <a:t>College Name: SNDT WOMEN’S UNIVERSITY</a:t>
            </a:r>
          </a:p>
          <a:p>
            <a:pPr algn="l">
              <a:spcAft>
                <a:spcPts val="600"/>
              </a:spcAft>
            </a:pPr>
            <a:r>
              <a:rPr lang="en-US" sz="1600" b="1" cap="all" dirty="0"/>
              <a:t>Department: POWER BI</a:t>
            </a:r>
          </a:p>
          <a:p>
            <a:pPr algn="l">
              <a:spcAft>
                <a:spcPts val="600"/>
              </a:spcAft>
            </a:pPr>
            <a:r>
              <a:rPr lang="en-US" sz="1600" b="1" cap="all" dirty="0"/>
              <a:t>Email ID:  </a:t>
            </a:r>
            <a:r>
              <a:rPr lang="en-US" sz="1600" b="1" dirty="0"/>
              <a:t>shravanidhuri16@gmail.com</a:t>
            </a:r>
            <a:endParaRPr lang="en-US" sz="1600" b="1" cap="all" dirty="0"/>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000" dirty="0"/>
              <a:t>Many industries are increasingly adopting Artificial Intelligence to improve efficiency, automate processes, and enhance decision-making. However, organizations often lack a centralized analytical system to understand how AI adoption varies across industries, regions, and business sectors. Without proper data analysis, it becomes difficult to identify:                              </a:t>
            </a:r>
          </a:p>
          <a:p>
            <a:pPr marL="0" indent="0">
              <a:buNone/>
            </a:pPr>
            <a:r>
              <a:rPr lang="en-US" sz="2000" dirty="0"/>
              <a:t>Which industries are adopting AI the fastest?                                                                                                              </a:t>
            </a:r>
          </a:p>
          <a:p>
            <a:pPr marL="0" indent="0">
              <a:buNone/>
            </a:pPr>
            <a:r>
              <a:rPr lang="en-US" sz="2000" dirty="0"/>
              <a:t>The investment trends in AI technologies?</a:t>
            </a:r>
          </a:p>
          <a:p>
            <a:pPr marL="0" indent="0">
              <a:buNone/>
            </a:pPr>
            <a:r>
              <a:rPr lang="en-US" sz="2000" dirty="0"/>
              <a:t>The impact of AI adoption on productivity and revenue?</a:t>
            </a:r>
          </a:p>
          <a:p>
            <a:pPr marL="0" indent="0">
              <a:buNone/>
            </a:pPr>
            <a:r>
              <a:rPr lang="en-US" sz="2000" dirty="0"/>
              <a:t>Regional differences in AI implementation?</a:t>
            </a:r>
          </a:p>
          <a:p>
            <a:pPr marL="0" indent="0">
              <a:buNone/>
            </a:pPr>
            <a:r>
              <a:rPr lang="en-US" sz="2000" dirty="0"/>
              <a:t>Therefore, there is a need for a data-driven analytical system that can analyze AI adoption trends across industries and provide meaningful insights for organizations and policymakers.</a:t>
            </a:r>
          </a:p>
          <a:p>
            <a:pPr marL="0" indent="0">
              <a:buNone/>
            </a:pP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4" y="1304306"/>
            <a:ext cx="11388207" cy="5245784"/>
          </a:xfrm>
        </p:spPr>
        <p:txBody>
          <a:bodyPr vert="horz" lIns="91440" tIns="45720" rIns="91440" bIns="45720" rtlCol="0" anchor="t">
            <a:noAutofit/>
          </a:bodyPr>
          <a:lstStyle/>
          <a:p>
            <a:r>
              <a:rPr lang="en-US" sz="1200" dirty="0"/>
              <a:t>The proposed system aims to develop a Power BI-based AI Adoption Analytics Dashboard that analyzes how Artificial Intelligence is being adopted across various industries.</a:t>
            </a:r>
          </a:p>
          <a:p>
            <a:r>
              <a:rPr lang="en-US" sz="1200" dirty="0"/>
              <a:t>The solution will include:</a:t>
            </a:r>
          </a:p>
          <a:p>
            <a:r>
              <a:rPr lang="en-US" sz="1200" b="1" dirty="0"/>
              <a:t>Data Collection</a:t>
            </a:r>
            <a:endParaRPr lang="en-US" sz="1200" dirty="0"/>
          </a:p>
          <a:p>
            <a:r>
              <a:rPr lang="en-US" sz="1200" dirty="0"/>
              <a:t>Collect datasets related to AI investment, adoption rates, and industry performance.</a:t>
            </a:r>
          </a:p>
          <a:p>
            <a:r>
              <a:rPr lang="en-US" sz="1200" b="1" dirty="0"/>
              <a:t>Data Cleaning &amp; Transformation</a:t>
            </a:r>
            <a:endParaRPr lang="en-US" sz="1200" dirty="0"/>
          </a:p>
          <a:p>
            <a:r>
              <a:rPr lang="en-US" sz="1200" dirty="0"/>
              <a:t>Remove missing values</a:t>
            </a:r>
          </a:p>
          <a:p>
            <a:r>
              <a:rPr lang="en-US" sz="1200" dirty="0"/>
              <a:t>Standardize industry categories</a:t>
            </a:r>
          </a:p>
          <a:p>
            <a:r>
              <a:rPr lang="en-US" sz="1200" dirty="0"/>
              <a:t>Prepare data for analysis.</a:t>
            </a:r>
          </a:p>
          <a:p>
            <a:r>
              <a:rPr lang="en-US" sz="1200" b="1" dirty="0"/>
              <a:t>Data Visualization</a:t>
            </a:r>
            <a:endParaRPr lang="en-US" sz="1200" dirty="0"/>
          </a:p>
          <a:p>
            <a:r>
              <a:rPr lang="en-US" sz="1200" dirty="0"/>
              <a:t>Create interactive dashboards using Power BI to show:</a:t>
            </a:r>
          </a:p>
          <a:p>
            <a:pPr lvl="1"/>
            <a:r>
              <a:rPr lang="en-US" sz="1200" dirty="0"/>
              <a:t>AI adoption trends</a:t>
            </a:r>
          </a:p>
          <a:p>
            <a:pPr lvl="1"/>
            <a:r>
              <a:rPr lang="en-US" sz="1200" dirty="0"/>
              <a:t>Industry comparison</a:t>
            </a:r>
          </a:p>
          <a:p>
            <a:pPr lvl="1"/>
            <a:r>
              <a:rPr lang="en-US" sz="1200" dirty="0"/>
              <a:t>Regional adoption levels</a:t>
            </a:r>
          </a:p>
          <a:p>
            <a:pPr lvl="1"/>
            <a:r>
              <a:rPr lang="en-US" sz="1200" dirty="0"/>
              <a:t>Investment growth in AI.</a:t>
            </a:r>
          </a:p>
          <a:p>
            <a:r>
              <a:rPr lang="en-US" sz="1200" b="1" dirty="0"/>
              <a:t>Insight Generation</a:t>
            </a:r>
            <a:endParaRPr lang="en-US" sz="1200" dirty="0"/>
          </a:p>
          <a:p>
            <a:r>
              <a:rPr lang="en-US" sz="1200" dirty="0"/>
              <a:t>Identify industries with the highest AI adoption.</a:t>
            </a:r>
          </a:p>
          <a:p>
            <a:r>
              <a:rPr lang="en-US" sz="1200" dirty="0"/>
              <a:t>Analyze trends that influence AI growth.</a:t>
            </a:r>
          </a:p>
          <a:p>
            <a:pPr marL="305435" indent="-305435">
              <a:spcBef>
                <a:spcPct val="20000"/>
              </a:spcBef>
              <a:spcAft>
                <a:spcPts val="600"/>
              </a:spcAft>
              <a:buFont typeface="Arial" panose="020B0604020202020204"/>
              <a:buChar char="•"/>
            </a:pPr>
            <a:endParaRPr lang="en-GB"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455575"/>
            <a:ext cx="10786020" cy="5047861"/>
          </a:xfrm>
        </p:spPr>
        <p:txBody>
          <a:bodyPr vert="horz" lIns="91440" tIns="45720" rIns="91440" bIns="45720" rtlCol="0">
            <a:normAutofit/>
          </a:bodyPr>
          <a:lstStyle/>
          <a:p>
            <a:pPr marL="0" indent="0">
              <a:buNone/>
            </a:pPr>
            <a:r>
              <a:rPr lang="en-IN" sz="2200" dirty="0"/>
              <a:t>The project will follow a Business Intelligence approach using Power BI.</a:t>
            </a:r>
          </a:p>
          <a:p>
            <a:pPr>
              <a:buFont typeface="Wingdings" panose="05000000000000000000" pitchFamily="2" charset="2"/>
              <a:buChar char="q"/>
            </a:pPr>
            <a:r>
              <a:rPr lang="en-IN" sz="2200" b="1" dirty="0"/>
              <a:t> Technologies Used:</a:t>
            </a:r>
          </a:p>
          <a:p>
            <a:r>
              <a:rPr lang="en-IN" sz="2200" b="1" dirty="0"/>
              <a:t>Data Source : </a:t>
            </a:r>
            <a:r>
              <a:rPr lang="en-IN" sz="2200" dirty="0"/>
              <a:t>CSV dataset</a:t>
            </a:r>
          </a:p>
          <a:p>
            <a:r>
              <a:rPr lang="en-IN" sz="2200" b="1" dirty="0"/>
              <a:t>Data Processing : </a:t>
            </a:r>
            <a:r>
              <a:rPr lang="en-IN" sz="2200" dirty="0"/>
              <a:t>Power Query for data cleaning, Data transformation techniques</a:t>
            </a:r>
          </a:p>
          <a:p>
            <a:r>
              <a:rPr lang="en-IN" sz="2200" b="1" dirty="0"/>
              <a:t>Data Modeling : </a:t>
            </a:r>
            <a:r>
              <a:rPr lang="en-IN" sz="2200" dirty="0"/>
              <a:t>Creating Calculated columns and measures</a:t>
            </a:r>
          </a:p>
          <a:p>
            <a:r>
              <a:rPr lang="en-IN" sz="2200" b="1" dirty="0"/>
              <a:t>Visualization Tool : </a:t>
            </a:r>
            <a:r>
              <a:rPr lang="en-IN" sz="2200" dirty="0"/>
              <a:t>Microsoft Power BI</a:t>
            </a:r>
          </a:p>
          <a:p>
            <a:r>
              <a:rPr lang="en-IN" sz="2200" b="1" dirty="0"/>
              <a:t>Libraries / Tools : </a:t>
            </a:r>
            <a:r>
              <a:rPr lang="en-IN" sz="2200" dirty="0"/>
              <a:t>Power BI Desktop, Excel(CSV), Power Query, DAX (Data Analysis Expressions)</a:t>
            </a:r>
          </a:p>
          <a:p>
            <a:pPr marL="0" indent="0">
              <a:spcBef>
                <a:spcPct val="20000"/>
              </a:spcBef>
              <a:spcAft>
                <a:spcPts val="600"/>
              </a:spcAft>
              <a:buNone/>
            </a:pP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1135308" cy="5220490"/>
          </a:xfrm>
        </p:spPr>
        <p:txBody>
          <a:bodyPr vert="horz" lIns="91440" tIns="45720" rIns="91440" bIns="45720" rtlCol="0">
            <a:normAutofit fontScale="77500" lnSpcReduction="20000"/>
          </a:bodyPr>
          <a:lstStyle/>
          <a:p>
            <a:pPr marL="0" indent="0">
              <a:buNone/>
            </a:pPr>
            <a:r>
              <a:rPr lang="en-US" sz="1600" dirty="0"/>
              <a:t>Since this is a data analytics project, the system will use analytical methods rather than machine learning algorithms.</a:t>
            </a:r>
          </a:p>
          <a:p>
            <a:pPr>
              <a:buFont typeface="Wingdings" panose="05000000000000000000" pitchFamily="2" charset="2"/>
              <a:buChar char="q"/>
            </a:pPr>
            <a:r>
              <a:rPr lang="en-US" sz="1600" b="1" dirty="0"/>
              <a:t>Analytical Approach</a:t>
            </a:r>
          </a:p>
          <a:p>
            <a:pPr>
              <a:buFont typeface="Wingdings" panose="05000000000000000000" pitchFamily="2" charset="2"/>
              <a:buChar char="§"/>
            </a:pPr>
            <a:r>
              <a:rPr lang="en-US" sz="1600" b="1" dirty="0"/>
              <a:t>Data Input</a:t>
            </a:r>
          </a:p>
          <a:p>
            <a:r>
              <a:rPr lang="en-US" sz="1600" dirty="0"/>
              <a:t>Industry name</a:t>
            </a:r>
          </a:p>
          <a:p>
            <a:r>
              <a:rPr lang="en-US" sz="1600" dirty="0"/>
              <a:t>AI investment</a:t>
            </a:r>
          </a:p>
          <a:p>
            <a:r>
              <a:rPr lang="en-US" sz="1600" dirty="0"/>
              <a:t>Adoption rate</a:t>
            </a:r>
          </a:p>
          <a:p>
            <a:r>
              <a:rPr lang="en-US" sz="1600" dirty="0"/>
              <a:t>Year</a:t>
            </a:r>
          </a:p>
          <a:p>
            <a:r>
              <a:rPr lang="en-US" sz="1600" dirty="0"/>
              <a:t>Region</a:t>
            </a:r>
          </a:p>
          <a:p>
            <a:r>
              <a:rPr lang="en-US" sz="1600" dirty="0"/>
              <a:t>Revenue impact</a:t>
            </a:r>
          </a:p>
          <a:p>
            <a:pPr>
              <a:buFont typeface="Wingdings" panose="05000000000000000000" pitchFamily="2" charset="2"/>
              <a:buChar char="§"/>
            </a:pPr>
            <a:r>
              <a:rPr lang="en-US" sz="1600" b="1" dirty="0"/>
              <a:t>Data Processing</a:t>
            </a:r>
          </a:p>
          <a:p>
            <a:r>
              <a:rPr lang="en-US" sz="1600" dirty="0"/>
              <a:t>Data cleaning and normalization</a:t>
            </a:r>
          </a:p>
          <a:p>
            <a:r>
              <a:rPr lang="en-US" sz="1600" dirty="0"/>
              <a:t>Data aggregation by industry and region</a:t>
            </a:r>
          </a:p>
          <a:p>
            <a:pPr>
              <a:buFont typeface="Wingdings" panose="05000000000000000000" pitchFamily="2" charset="2"/>
              <a:buChar char="§"/>
            </a:pPr>
            <a:r>
              <a:rPr lang="en-US" sz="1600" b="1" dirty="0"/>
              <a:t>Analysis Methods</a:t>
            </a:r>
            <a:endParaRPr lang="en-US" sz="1600" dirty="0"/>
          </a:p>
          <a:p>
            <a:r>
              <a:rPr lang="en-US" sz="1600" dirty="0"/>
              <a:t>Trend analysis</a:t>
            </a:r>
          </a:p>
          <a:p>
            <a:r>
              <a:rPr lang="en-US" sz="1600" dirty="0"/>
              <a:t>Comparative analysis</a:t>
            </a:r>
          </a:p>
          <a:p>
            <a:r>
              <a:rPr lang="en-US" sz="1600" dirty="0"/>
              <a:t>KPI calculations</a:t>
            </a:r>
          </a:p>
          <a:p>
            <a:pPr>
              <a:buFont typeface="Wingdings" panose="05000000000000000000" pitchFamily="2" charset="2"/>
              <a:buChar char="q"/>
            </a:pPr>
            <a:r>
              <a:rPr lang="en-US" sz="1600" b="1" dirty="0"/>
              <a:t>Deployment</a:t>
            </a:r>
            <a:endParaRPr lang="en-US" sz="1600" dirty="0"/>
          </a:p>
          <a:p>
            <a:r>
              <a:rPr lang="en-US" sz="1600" dirty="0"/>
              <a:t>Dashboard developed using Microsoft Power BI</a:t>
            </a:r>
          </a:p>
          <a:p>
            <a:r>
              <a:rPr lang="en-US" sz="1600" dirty="0"/>
              <a:t>Interactive visuals for stakeholders</a:t>
            </a:r>
          </a:p>
          <a:p>
            <a:r>
              <a:rPr lang="en-US" sz="1600" dirty="0"/>
              <a:t>Can be deployed on Power BI Service for online access.</a:t>
            </a:r>
          </a:p>
          <a:p>
            <a:pPr marL="305435" indent="-305435">
              <a:spcBef>
                <a:spcPct val="20000"/>
              </a:spcBef>
              <a:spcAft>
                <a:spcPts val="600"/>
              </a:spcAft>
              <a:buFont typeface="Arial" panose="020B0604020202020204"/>
              <a:buChar char="•"/>
            </a:pPr>
            <a:endParaRPr lang="en-GB"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fontScale="77500" lnSpcReduction="20000"/>
          </a:bodyPr>
          <a:lstStyle/>
          <a:p>
            <a:pPr marL="0" indent="0">
              <a:buNone/>
            </a:pPr>
            <a:r>
              <a:rPr lang="en-US" sz="2400" dirty="0"/>
              <a:t>The Power BI dashboard provides insights into AI adoption trends across industries.</a:t>
            </a:r>
          </a:p>
          <a:p>
            <a:pPr>
              <a:buFont typeface="Wingdings" panose="05000000000000000000" pitchFamily="2" charset="2"/>
              <a:buChar char="q"/>
            </a:pPr>
            <a:r>
              <a:rPr lang="en-US" sz="2400" dirty="0"/>
              <a:t> The dashboard includes:</a:t>
            </a:r>
          </a:p>
          <a:p>
            <a:r>
              <a:rPr lang="en-US" sz="2400" dirty="0"/>
              <a:t>AI adoption rate by industry</a:t>
            </a:r>
          </a:p>
          <a:p>
            <a:r>
              <a:rPr lang="en-US" sz="2400" dirty="0"/>
              <a:t>Investment trends in AI technologies</a:t>
            </a:r>
          </a:p>
          <a:p>
            <a:r>
              <a:rPr lang="en-US" sz="2400" dirty="0"/>
              <a:t>Regional AI adoption comparison</a:t>
            </a:r>
          </a:p>
          <a:p>
            <a:r>
              <a:rPr lang="en-US" sz="2400" dirty="0"/>
              <a:t>Yearly growth in AI implementation</a:t>
            </a:r>
          </a:p>
          <a:p>
            <a:r>
              <a:rPr lang="en-US" sz="2400" dirty="0"/>
              <a:t>Industry performance improvement after AI adoption</a:t>
            </a:r>
          </a:p>
          <a:p>
            <a:pPr>
              <a:buFont typeface="Wingdings" panose="05000000000000000000" pitchFamily="2" charset="2"/>
              <a:buChar char="q"/>
            </a:pPr>
            <a:r>
              <a:rPr lang="en-US" sz="2400" dirty="0"/>
              <a:t> Visualizations used:</a:t>
            </a:r>
          </a:p>
          <a:p>
            <a:r>
              <a:rPr lang="en-US" sz="2400" dirty="0"/>
              <a:t>Bar charts</a:t>
            </a:r>
          </a:p>
          <a:p>
            <a:r>
              <a:rPr lang="en-US" sz="2400" dirty="0"/>
              <a:t>Line charts</a:t>
            </a:r>
          </a:p>
          <a:p>
            <a:r>
              <a:rPr lang="en-US" sz="2400" dirty="0"/>
              <a:t>KPI cards</a:t>
            </a:r>
          </a:p>
          <a:p>
            <a:r>
              <a:rPr lang="en-US" sz="2400" dirty="0"/>
              <a:t>Industry comparison dashboards</a:t>
            </a:r>
          </a:p>
          <a:p>
            <a:r>
              <a:rPr lang="en-US" sz="2400" dirty="0"/>
              <a:t>Interactive filters and slicers</a:t>
            </a:r>
          </a:p>
          <a:p>
            <a:pPr marL="0" indent="0">
              <a:buNone/>
            </a:pP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04464-94EB-DC3F-8536-0895C9FF36F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5F050E4-0B20-117B-D410-A055942350AF}"/>
              </a:ext>
            </a:extLst>
          </p:cNvPr>
          <p:cNvSpPr>
            <a:spLocks noGrp="1"/>
          </p:cNvSpPr>
          <p:nvPr>
            <p:ph idx="1"/>
          </p:nvPr>
        </p:nvSpPr>
        <p:spPr/>
        <p:txBody>
          <a:bodyPr/>
          <a:lstStyle/>
          <a:p>
            <a:pPr marL="0" indent="0">
              <a:buNone/>
            </a:pPr>
            <a:endParaRPr lang="en-IN" sz="9600" dirty="0"/>
          </a:p>
        </p:txBody>
      </p:sp>
      <p:pic>
        <p:nvPicPr>
          <p:cNvPr id="5" name="Picture 4">
            <a:extLst>
              <a:ext uri="{FF2B5EF4-FFF2-40B4-BE49-F238E27FC236}">
                <a16:creationId xmlns:a16="http://schemas.microsoft.com/office/drawing/2014/main" id="{5E7D33D4-B7F8-4333-6D67-9B8558BDEA4E}"/>
              </a:ext>
            </a:extLst>
          </p:cNvPr>
          <p:cNvPicPr>
            <a:picLocks noChangeAspect="1"/>
          </p:cNvPicPr>
          <p:nvPr/>
        </p:nvPicPr>
        <p:blipFill>
          <a:blip r:embed="rId2"/>
          <a:stretch>
            <a:fillRect/>
          </a:stretch>
        </p:blipFill>
        <p:spPr>
          <a:xfrm>
            <a:off x="0" y="1474236"/>
            <a:ext cx="12192000" cy="5094513"/>
          </a:xfrm>
          <a:prstGeom prst="rect">
            <a:avLst/>
          </a:prstGeom>
        </p:spPr>
      </p:pic>
    </p:spTree>
    <p:extLst>
      <p:ext uri="{BB962C8B-B14F-4D97-AF65-F5344CB8AC3E}">
        <p14:creationId xmlns:p14="http://schemas.microsoft.com/office/powerpoint/2010/main" val="1008241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8A19-F422-15A4-37F7-17D403F09C4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1D09C28-F329-45BC-E4A3-5530BC0FAE1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DBDFDE33-4E42-7476-86EF-74CDF5FDD974}"/>
              </a:ext>
            </a:extLst>
          </p:cNvPr>
          <p:cNvPicPr>
            <a:picLocks noChangeAspect="1"/>
          </p:cNvPicPr>
          <p:nvPr/>
        </p:nvPicPr>
        <p:blipFill>
          <a:blip r:embed="rId2"/>
          <a:stretch>
            <a:fillRect/>
          </a:stretch>
        </p:blipFill>
        <p:spPr>
          <a:xfrm>
            <a:off x="0" y="1101012"/>
            <a:ext cx="12192000" cy="5365102"/>
          </a:xfrm>
          <a:prstGeom prst="rect">
            <a:avLst/>
          </a:prstGeom>
        </p:spPr>
      </p:pic>
    </p:spTree>
    <p:extLst>
      <p:ext uri="{BB962C8B-B14F-4D97-AF65-F5344CB8AC3E}">
        <p14:creationId xmlns:p14="http://schemas.microsoft.com/office/powerpoint/2010/main" val="89960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207BE-B166-C82A-46E6-069E5B77048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7B40C40-F300-8D2B-D207-BEDF344CB83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A987349-80F7-B76F-AF25-4CFA60DF373E}"/>
              </a:ext>
            </a:extLst>
          </p:cNvPr>
          <p:cNvPicPr>
            <a:picLocks noChangeAspect="1"/>
          </p:cNvPicPr>
          <p:nvPr/>
        </p:nvPicPr>
        <p:blipFill>
          <a:blip r:embed="rId2"/>
          <a:stretch>
            <a:fillRect/>
          </a:stretch>
        </p:blipFill>
        <p:spPr>
          <a:xfrm>
            <a:off x="0" y="978738"/>
            <a:ext cx="12192000" cy="5543360"/>
          </a:xfrm>
          <a:prstGeom prst="rect">
            <a:avLst/>
          </a:prstGeom>
        </p:spPr>
      </p:pic>
    </p:spTree>
    <p:extLst>
      <p:ext uri="{BB962C8B-B14F-4D97-AF65-F5344CB8AC3E}">
        <p14:creationId xmlns:p14="http://schemas.microsoft.com/office/powerpoint/2010/main" val="928935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r>
              <a:rPr lang="en-US" sz="2400" dirty="0"/>
              <a:t>The project successfully analyzes AI adoption trends across different industries using Power BI. The dashboard provides valuable insights into how organizations are integrating Artificial Intelligence to improve operational efficiency and business performance.</a:t>
            </a:r>
          </a:p>
          <a:p>
            <a:r>
              <a:rPr lang="en-US" sz="2400" dirty="0"/>
              <a:t>The analysis highlights key industries leading in AI adoption and shows how investment in AI technologies is increasing over time. Such insights can help businesses, researchers, and policymakers make informed decisions regarding future AI strategies.</a:t>
            </a:r>
          </a:p>
          <a:p>
            <a:pPr marL="0" indent="0">
              <a:buNone/>
            </a:pP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panose="020B0503020102020204"/>
            </a:endParaRPr>
          </a:p>
          <a:p>
            <a:r>
              <a:rPr lang="en-US" sz="2400" dirty="0"/>
              <a:t>Future improvements for the system include:</a:t>
            </a:r>
          </a:p>
          <a:p>
            <a:r>
              <a:rPr lang="en-US" sz="2400" dirty="0"/>
              <a:t>Integrating real-time industry datasets</a:t>
            </a:r>
          </a:p>
          <a:p>
            <a:r>
              <a:rPr lang="en-US" sz="2400" dirty="0"/>
              <a:t>Applying machine learning models for AI adoption prediction</a:t>
            </a:r>
          </a:p>
          <a:p>
            <a:r>
              <a:rPr lang="en-US" sz="2400" dirty="0"/>
              <a:t>Expanding the analysis to include more global regions</a:t>
            </a:r>
          </a:p>
          <a:p>
            <a:r>
              <a:rPr lang="en-US" sz="2400" dirty="0"/>
              <a:t>Incorporating additional business metrics such as productivity improvement and job automation impact</a:t>
            </a:r>
          </a:p>
          <a:p>
            <a:r>
              <a:rPr lang="en-US" sz="2400" dirty="0"/>
              <a:t>Developing a web-based analytics portal for wider accessibility.</a:t>
            </a:r>
          </a:p>
          <a:p>
            <a:pPr marL="0" indent="0">
              <a:buNone/>
            </a:pPr>
            <a:endParaRPr lang="en-GB"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IN" sz="2400" dirty="0"/>
              <a:t>Data Sources: Kaggle AI datasets</a:t>
            </a:r>
          </a:p>
          <a:p>
            <a:r>
              <a:rPr lang="en-IN" sz="2400" dirty="0"/>
              <a:t>Research articles on Artificial Intelligence adoption</a:t>
            </a:r>
          </a:p>
          <a:p>
            <a:r>
              <a:rPr lang="en-IN" sz="2400" dirty="0"/>
              <a:t>Industry technology reports</a:t>
            </a:r>
          </a:p>
          <a:p>
            <a:r>
              <a:rPr lang="en-IN" sz="2400" dirty="0"/>
              <a:t>Tools Used:</a:t>
            </a:r>
          </a:p>
          <a:p>
            <a:r>
              <a:rPr lang="en-IN" sz="2400" dirty="0"/>
              <a:t>Microsoft Power BI</a:t>
            </a:r>
          </a:p>
          <a:p>
            <a:r>
              <a:rPr lang="en-IN" sz="2400" dirty="0"/>
              <a:t>GitHub Link:</a:t>
            </a:r>
            <a:br>
              <a:rPr lang="en-IN" sz="2400" dirty="0"/>
            </a:br>
            <a:r>
              <a:rPr lang="en-IN" sz="2400" dirty="0"/>
              <a:t>https://github.com/Shravani2712/AI-Adoption-Across-Industries-Power-BI-Dashboard</a:t>
            </a: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649</Words>
  <Application>Microsoft Office PowerPoint</Application>
  <PresentationFormat>Widescreen</PresentationFormat>
  <Paragraphs>105</Paragraphs>
  <Slides>14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vt:i4>
      </vt:variant>
    </vt:vector>
  </HeadingPairs>
  <TitlesOfParts>
    <vt:vector size="21" baseType="lpstr">
      <vt:lpstr>Aptos</vt:lpstr>
      <vt:lpstr>Arial</vt:lpstr>
      <vt:lpstr>Calibri</vt:lpstr>
      <vt:lpstr>Franklin Gothic Book</vt:lpstr>
      <vt:lpstr>Wingdings</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SHRAVANI DHURI</cp:lastModifiedBy>
  <cp:revision>113</cp:revision>
  <dcterms:created xsi:type="dcterms:W3CDTF">2024-05-21T11:55:00Z</dcterms:created>
  <dcterms:modified xsi:type="dcterms:W3CDTF">2026-03-14T21:33:41Z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